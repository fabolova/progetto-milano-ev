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0D4AA"/>
                </a:solidFill>
                <a:latin typeface="Calibri"/>
              </a:rPr>
              <a:t>Milano EV Digital 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Calibri"/>
              </a:rPr>
              <a:t>Motore Stocastico &amp; Architettura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BBCC"/>
                </a:solidFill>
                <a:latin typeface="Calibri"/>
              </a:rPr>
              <a:t>Big Data Processing &amp; Data Engineering — A.A. 2024/25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BBCC"/>
                </a:solidFill>
                <a:latin typeface="Calibri"/>
              </a:rPr>
              <a:t>Università degli Studi di Milano-Bicocca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D4AA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1.  Perché MongoDB? — Vantaggi architetturali per il progetto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2.  Il Motore Stocastico — Panoramica del modello probabilistico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3.  Probabilità Base per Quartiere (NIL)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4.  Moltiplicatore Orario — Fasce di traffico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5.  Moltiplicatore Stagionale — Effetto meteo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6.  Formula Composita — P(ricarica) = P_base × M_ora × M_meteo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7.  Selezione Veicolo — Campionamento pesato per market share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8.  Sessione di Ricarica — Calcolo energia, durata e ricavo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9.  Stato IDLE — Sosta abusiva post-ricarica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10. Pipeline Completa — Dal dato grezzo al business insight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D4AA"/>
                </a:solidFill>
                <a:latin typeface="Calibri"/>
              </a:rPr>
              <a:t>Perché MongoDB?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73152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A726"/>
                </a:solidFill>
                <a:latin typeface="Calibri"/>
              </a:rPr>
              <a:t>Schema Flessibile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Documenti JSON annidati (battery_specs, charging_specs)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Evoluzione dello schema senza migrazioni DDL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Ogni collezione ha la struttura adatta al suo dominio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00400"/>
            <a:ext cx="73152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A726"/>
                </a:solidFill>
                <a:latin typeface="Calibri"/>
              </a:rPr>
              <a:t>Time Series Collections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Compressione nativa per dati temporali (charging_events)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Bucketing automatico per query su intervalli orari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Riduzione storage fino al 90% vs collezioni standard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73152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A726"/>
                </a:solidFill>
                <a:latin typeface="Calibri"/>
              </a:rPr>
              <a:t>Atlas Cloud &amp; Scalabilità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5778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Zero-ops: backup, replica set e monitoring integrati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insert_many() per batch da 5 000 documenti alla volta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8BDF8"/>
                </a:solidFill>
                <a:latin typeface="Calibri"/>
              </a:rPr>
              <a:t>Impatto Business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9202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✓  Time-to-market ridotto: nessuna fase di schema design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✓  Costi infrastrutturali contenuti (free tier Atlas M0)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✓  Indici 2dsphere per query geospaziali real-time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✓  Upsert idempotenti: pipeline rieseguibili senza duplicati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✓  Aggregation Framework per analytics server-side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✓  Integrazione naturale con Python (PyMongo + dicts)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D4AA"/>
                </a:solidFill>
                <a:latin typeface="Calibri"/>
              </a:rPr>
              <a:t>Il Motore Stocastico — Panoramica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Obiettivo: simulare un anno intero (2025) di sessioni di ricarica EV su Milano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Approccio Discrete-Event Simulation con tick fisso di 15 minuti</a:t>
            </a:r>
          </a:p>
          <a:p>
            <a:pPr algn="l" lvl="1"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   → 35 040 tick simulati × N colonnine (centinaia di prese fisiche)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Tre livelli di probabilità composti in un unico valore:</a:t>
            </a:r>
          </a:p>
          <a:p>
            <a:pPr algn="l" lvl="1"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   P(ricarica) = P_base(quartiere) × M(fascia oraria) × M(stagione)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Ad ogni tick, per ogni colonnina in stato AVAILABLE:</a:t>
            </a:r>
          </a:p>
          <a:p>
            <a:pPr algn="l" lvl="1"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   → Estrazione uniforme U(0,1): se U &lt; P(ricarica) → avvia sessione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Tutti i parametri economici e i modelli auto letti da MongoDB (data-driven)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D4AA"/>
                </a:solidFill>
                <a:latin typeface="Calibri"/>
              </a:rPr>
              <a:t>Probabilità Base — Quartieri (NIL)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AABBCC"/>
                </a:solidFill>
                <a:latin typeface="Calibri"/>
              </a:rPr>
              <a:t>Ogni colonnina ha una probabilità base assegnata in base al suo NIL (Nucleo di Identità Locale):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2194560"/>
          <a:ext cx="9144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F172A"/>
                          </a:solidFill>
                        </a:defRPr>
                      </a:pPr>
                      <a:r>
                        <a:t>Fascia Quartiere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F172A"/>
                          </a:solidFill>
                        </a:defRPr>
                      </a:pPr>
                      <a:r>
                        <a:t>Codice NIL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F172A"/>
                          </a:solidFill>
                        </a:defRPr>
                      </a:pPr>
                      <a:r>
                        <a:t>P_base (per tick 15 min)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Centro / Alta densità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NIL ≤ 9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12%  (0.12)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Semi-centro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10 ≤ NIL ≤ 45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8%   (0.08)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Periferia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NIL &gt; 45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4%   (0.04)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ABBCC"/>
                </a:solidFill>
                <a:latin typeface="Calibri"/>
              </a:rPr>
              <a:t>💡 Razionale: le colonnine in centro (Duomo, Brera) hanno traffico pedonale e veicolare</a:t>
            </a:r>
            <a:br/>
            <a:r>
              <a:t>superiore, quindi una maggiore probabilità di essere utilizzate in ogni finestra di 15 minuti.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D4AA"/>
                </a:solidFill>
                <a:latin typeface="Calibri"/>
              </a:rPr>
              <a:t>Moltiplicatore Orario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AABBCC"/>
                </a:solidFill>
                <a:latin typeface="Calibri"/>
              </a:rPr>
              <a:t>Modella il comportamento umano: ricariche concentrate nelle ore di punta, quasi assenti di notte.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2011680"/>
          <a:ext cx="9144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F172A"/>
                          </a:solidFill>
                        </a:defRPr>
                      </a:pPr>
                      <a:r>
                        <a:t>Fascia Oraria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F172A"/>
                          </a:solidFill>
                        </a:defRPr>
                      </a:pPr>
                      <a:r>
                        <a:t>Ore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F172A"/>
                          </a:solidFill>
                        </a:defRPr>
                      </a:pPr>
                      <a:r>
                        <a:t>Moltiplicatore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🌙 Notte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00:00 – 05:59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×0.10  (quasi zero)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🌅 Mattina (punta)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07:00 – 10:00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×1.50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☀️ Giorno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11:00 – 16:59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×1.00  (baseline)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🌆 Sera (punta)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17:00 – 20:00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×1.80  (picco massimo)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754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A726"/>
                </a:solidFill>
                <a:latin typeface="Calibri"/>
              </a:rPr>
              <a:t>📊 Esempio: colonnina in centro (P_base=0.12) alle 18:00 → P = 0.12 × 1.80 = 21.6% per tick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D4AA"/>
                </a:solidFill>
                <a:latin typeface="Calibri"/>
              </a:rPr>
              <a:t>Moltiplicatore Stagionale / Meteo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AABBCC"/>
                </a:solidFill>
                <a:latin typeface="Calibri"/>
              </a:rPr>
              <a:t>In inverno le batterie soffrono il freddo → più soste in ricarica. In estate il turismo aumenta la domanda.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201168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F172A"/>
                          </a:solidFill>
                        </a:defRPr>
                      </a:pPr>
                      <a:r>
                        <a:t>Stagione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F172A"/>
                          </a:solidFill>
                        </a:defRPr>
                      </a:pPr>
                      <a:r>
                        <a:t>Mesi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F172A"/>
                          </a:solidFill>
                        </a:defRPr>
                      </a:pPr>
                      <a:r>
                        <a:t>Moltiplicatore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❄️ Inverno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Dic, Gen, Feb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×1.25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🌸 Primavera/Autunno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Mar–Mag, Set–Nov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×1.00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☀️ Estate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Giu, Lug, Ago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×1.10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389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A726"/>
                </a:solidFill>
                <a:latin typeface="Calibri"/>
              </a:rPr>
              <a:t>💡 La combinazione dei moltiplicatori crea pattern realistici:</a:t>
            </a:r>
            <a:br/>
            <a:r>
              <a:t>una sera di gennaio in centro raggiunge P = 0.12 × 1.80 × 1.25 = 27%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D4AA"/>
                </a:solidFill>
                <a:latin typeface="Calibri"/>
              </a:rPr>
              <a:t>Formula Composita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A726"/>
                </a:solidFill>
                <a:latin typeface="Calibri"/>
              </a:rPr>
              <a:t>P(ricarica)  =  P_base(NIL)  ×  M_orario(h)  ×  M_stagione(m)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Decisione per ogni tick (ogni 15 minuti):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9184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1.  Genera un numero casuale U ~ Uniform(0, 1)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2.  Se  U &lt; P(ricarica)  →  la colonnina inizia una sessione di ricarica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3.  Se  U ≥ P(ricarica)  →  la colonnina resta in stato AVAILABLE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Questo è un processo di Bernoulli ad ogni tick:</a:t>
            </a:r>
          </a:p>
          <a:p>
            <a:pPr algn="l" lvl="1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 → Successo (ricarica) con probabilità p</a:t>
            </a:r>
          </a:p>
          <a:p>
            <a:pPr algn="l" lvl="1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 → Insuccesso (resta libera) con probabilità (1 − p)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Il tempo di attesa tra due ricariche segue una distribuzione Geometrica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D4AA"/>
                </a:solidFill>
                <a:latin typeface="Calibri"/>
              </a:rPr>
              <a:t>Selezione Veicolo — Campionamento Pesato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AABBCC"/>
                </a:solidFill>
                <a:latin typeface="Calibri"/>
              </a:rPr>
              <a:t>Il modello dell'auto viene estratto con random.choices() usando pesi di market share: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2011680"/>
          <a:ext cx="9144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</a:defRPr>
                      </a:pPr>
                      <a:r>
                        <a:t>Modello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</a:defRPr>
                      </a:pPr>
                      <a:r>
                        <a:t>Tipo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F172A"/>
                          </a:solidFill>
                        </a:defRPr>
                      </a:pPr>
                      <a:r>
                        <a:t>Peso Market Share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Tesla Model Y LR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BEV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Fiat 500e 42kWh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BEV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Tesla Model 3 RWD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BEV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Smart EQ fortwo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BEV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10%  (solo AC!)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Jeep Compass 4xe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PHEV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10%  (no DC, lento)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A726"/>
                </a:solidFill>
                <a:latin typeface="Calibri"/>
              </a:rPr>
              <a:t>⚠️ Vincolo di compatibilità: se la colonnina è DC e il veicolo ha max_dc_kw = 0, la sessione viene scartata.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D4AA"/>
                </a:solidFill>
                <a:latin typeface="Calibri"/>
              </a:rPr>
              <a:t>Sessione di Ricarica — Calcolo Durata e Ricavo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1.  SOC iniziale estratto casualmente:  SOC₀ ~ Uniform(10%, 50%)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2.  Energia necessaria:  kWh = Capacità_batteria × (80% − SOC₀) / 100</a:t>
            </a:r>
          </a:p>
          <a:p>
            <a:pPr algn="l" lvl="1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   → Si ricarica sempre fino all'80% (best practice per longevità batteria)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3.  Potenza effettiva:  P_eff = min(P_colonnina, P_max_veicolo)</a:t>
            </a:r>
          </a:p>
          <a:p>
            <a:pPr algn="l" lvl="1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   → Il collo di bottiglia può essere la colonnina O il veicolo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4.  Durata:  T = kWh / P_eff   (convertita in minuti)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5.  Ricavo per tick:  R_tick = P_eff × (15/60) × Tariffa_€/kWh</a:t>
            </a:r>
          </a:p>
          <a:p>
            <a:pPr algn="l" lvl="1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   → AC: €0.65/kWh  |  DC: €0.90/kWh  (da simulation_parameters)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6.  Il ricavo totale si accumula tick dopo tick fino al completamento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D4AA"/>
                </a:solidFill>
                <a:latin typeface="Calibri"/>
              </a:rPr>
              <a:t>Stato IDLE — Sosta Abusiva Post-Ricarica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Al termine di ogni sessione di ricarica:</a:t>
            </a:r>
          </a:p>
          <a:p>
            <a:pPr algn="l">
              <a:spcAft>
                <a:spcPts val="800"/>
              </a:spcAft>
            </a:pPr>
          </a:p>
          <a:p>
            <a:pPr algn="l" lvl="1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 → Con probabilità 20% il veicolo resta parcheggiato (stato IDLE)</a:t>
            </a:r>
          </a:p>
          <a:p>
            <a:pPr algn="l" lvl="1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 → Con probabilità 80% il veicolo se ne va (stato → AVAILABLE)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Se il veicolo resta in sosta abusiva:</a:t>
            </a:r>
          </a:p>
          <a:p>
            <a:pPr algn="l" lvl="1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 • Durata IDLE ~ Uniform(15, 60) minuti</a:t>
            </a:r>
          </a:p>
          <a:p>
            <a:pPr algn="l" lvl="1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 • Si applica una penale di €0.10/minuto (idle_fee)</a:t>
            </a:r>
          </a:p>
          <a:p>
            <a:pPr algn="l" lvl="1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 • Il ricavo della penale viene tracciato come evento separato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💡 Questo modella un fenomeno reale e misurabile:</a:t>
            </a:r>
          </a:p>
          <a:p>
            <a:pPr algn="l" lvl="1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 la sosta abusiva è la causa #1 di sotto-utilizzo delle colonnine</a:t>
            </a:r>
          </a:p>
          <a:p>
            <a:pPr algn="l" lvl="1"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   e rappresenta un'opportunità di revenue aggiuntiva per l'operatore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D4AA"/>
                </a:solidFill>
                <a:latin typeface="Calibri"/>
              </a:rPr>
              <a:t>Pipeline End-to-End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① Censimento Geo (GeoJSON → MongoDB)</a:t>
            </a:r>
          </a:p>
          <a:p>
            <a:pPr algn="l" lvl="1"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   Colonnine + coordinate + NIL + titolare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② Enrichment Demografico</a:t>
            </a:r>
          </a:p>
          <a:p>
            <a:pPr algn="l" lvl="1"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   Densità abitanti/km² per quartiere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③ Parametri Economici</a:t>
            </a:r>
          </a:p>
          <a:p>
            <a:pPr algn="l" lvl="1"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   Tariffe B2C, costi B2B (PUN + oneri)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④ Catalogo EV (10 modelli con market share)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⑤ Motore Stocastico (07_connected_simulation)</a:t>
            </a:r>
          </a:p>
          <a:p>
            <a:pPr algn="l" lvl="1"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   35 040 tick × N prese → charging_sessions_log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⑥ Dati Meteo Storici (Open-Meteo API)</a:t>
            </a:r>
          </a:p>
          <a:p>
            <a:pPr algn="l" lvl="1"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   Pioggia oraria 2023–2026 → CSV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⑦ Grafo Neo4j</a:t>
            </a:r>
          </a:p>
          <a:p>
            <a:pPr algn="l" lvl="1"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   Colonnine → Quartieri → Eventi → Veicoli</a:t>
            </a:r>
          </a:p>
          <a:p>
            <a:pPr algn="l" lvl="1"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   POI, Musei, Supermercati di prossimità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⑧ Import Transazioni (batch UNWIND)</a:t>
            </a:r>
          </a:p>
          <a:p>
            <a:pPr algn="l" lvl="1"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   MongoDB → Neo4j con prestazioni ottimizzate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⑨ Analytics &amp; Digital Twin</a:t>
            </a:r>
          </a:p>
          <a:p>
            <a:pPr algn="l" lvl="1"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   Query geospaziali, tassi di occupazione,</a:t>
            </a:r>
          </a:p>
          <a:p>
            <a:pPr algn="l" lvl="1"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   redditività per quartiere e fascia oraria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D4AA"/>
                </a:solidFill>
                <a:latin typeface="Calibri"/>
              </a:rPr>
              <a:t>Grazie per l'attenzione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Milano EV Digital Twin — Big Data Processing &amp; Data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A726"/>
                </a:solidFill>
                <a:latin typeface="Calibri"/>
              </a:rPr>
              <a:t>Domande?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